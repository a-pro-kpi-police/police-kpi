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7e38b657344ed8" /><Relationship Type="http://schemas.openxmlformats.org/officeDocument/2006/relationships/extended-properties" Target="/docProps/app.xml" Id="R05c80dd30546449a" /><Relationship Type="http://schemas.openxmlformats.org/officeDocument/2006/relationships/officeDocument" Target="/ppt/presentation.xml" Id="R72bc2f70f60d41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cae56a51234fcf"/>
  </p:sldMasterIdLst>
  <p:notesMasterIdLst>
    <p:notesMasterId xmlns:r="http://schemas.openxmlformats.org/officeDocument/2006/relationships" r:id="Rdeec6b4b6cd94cf4"/>
  </p:notesMasterIdLst>
  <p:sldIdLst>
    <p:sldId xmlns:r="http://schemas.openxmlformats.org/officeDocument/2006/relationships" id="256" r:id="Ra4f0dfab2ec748e4"/>
    <p:sldId xmlns:r="http://schemas.openxmlformats.org/officeDocument/2006/relationships" id="257" r:id="R3aa2d55c60814a03"/>
    <p:sldId xmlns:r="http://schemas.openxmlformats.org/officeDocument/2006/relationships" id="258" r:id="Rc1b5028542b14ccc"/>
    <p:sldId xmlns:r="http://schemas.openxmlformats.org/officeDocument/2006/relationships" id="259" r:id="R9f22430cfd44430b"/>
    <p:sldId xmlns:r="http://schemas.openxmlformats.org/officeDocument/2006/relationships" id="260" r:id="R0bb52bf919a64cd4"/>
    <p:sldId xmlns:r="http://schemas.openxmlformats.org/officeDocument/2006/relationships" id="261" r:id="R03968cf728ad40ef"/>
    <p:sldId xmlns:r="http://schemas.openxmlformats.org/officeDocument/2006/relationships" id="262" r:id="Rbd6ff4447ee74225"/>
    <p:sldId xmlns:r="http://schemas.openxmlformats.org/officeDocument/2006/relationships" id="263" r:id="R44017d06171b4af6"/>
    <p:sldId xmlns:r="http://schemas.openxmlformats.org/officeDocument/2006/relationships" id="264" r:id="R65f4695c1ea84766"/>
    <p:sldId xmlns:r="http://schemas.openxmlformats.org/officeDocument/2006/relationships" id="265" r:id="Raa34eb03ca824bbe"/>
    <p:sldId xmlns:r="http://schemas.openxmlformats.org/officeDocument/2006/relationships" id="266" r:id="R065332d6c702446c"/>
    <p:sldId xmlns:r="http://schemas.openxmlformats.org/officeDocument/2006/relationships" id="267" r:id="Rfb49cb7c6dbe4b17"/>
    <p:sldId xmlns:r="http://schemas.openxmlformats.org/officeDocument/2006/relationships" id="268" r:id="Rb603e0f1362441f6"/>
    <p:sldId xmlns:r="http://schemas.openxmlformats.org/officeDocument/2006/relationships" id="269" r:id="R6bedf24c59b24f23"/>
    <p:sldId xmlns:r="http://schemas.openxmlformats.org/officeDocument/2006/relationships" id="270" r:id="Rbef8df4eb82d4465"/>
    <p:sldId xmlns:r="http://schemas.openxmlformats.org/officeDocument/2006/relationships" id="271" r:id="R6504e7096c8f41c2"/>
    <p:sldId xmlns:r="http://schemas.openxmlformats.org/officeDocument/2006/relationships" id="272" r:id="R0a99d02f46044ea8"/>
    <p:sldId xmlns:r="http://schemas.openxmlformats.org/officeDocument/2006/relationships" id="273" r:id="R004d5b8e874342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430f8ceefa4101" /><Relationship Type="http://schemas.openxmlformats.org/officeDocument/2006/relationships/slideMaster" Target="/ppt/slideMasters/slideMaster1.xml" Id="R62cae56a51234fcf" /><Relationship Type="http://schemas.openxmlformats.org/officeDocument/2006/relationships/notesMaster" Target="/ppt/notesMasters/notesMaster1.xml" Id="Rdeec6b4b6cd94cf4" /><Relationship Type="http://schemas.openxmlformats.org/officeDocument/2006/relationships/presProps" Target="/ppt/presProps.xml" Id="Reb46a80e868346d9" /><Relationship Type="http://schemas.openxmlformats.org/officeDocument/2006/relationships/tableStyles" Target="/ppt/tableStyles.xml" Id="R2c8074a4b5324c61" /><Relationship Type="http://schemas.openxmlformats.org/officeDocument/2006/relationships/slide" Target="/ppt/slides/slide1.xml" Id="Ra4f0dfab2ec748e4" /><Relationship Type="http://schemas.openxmlformats.org/officeDocument/2006/relationships/slide" Target="/ppt/slides/slide2.xml" Id="R3aa2d55c60814a03" /><Relationship Type="http://schemas.openxmlformats.org/officeDocument/2006/relationships/slide" Target="/ppt/slides/slide3.xml" Id="Rc1b5028542b14ccc" /><Relationship Type="http://schemas.openxmlformats.org/officeDocument/2006/relationships/slide" Target="/ppt/slides/slide4.xml" Id="R9f22430cfd44430b" /><Relationship Type="http://schemas.openxmlformats.org/officeDocument/2006/relationships/slide" Target="/ppt/slides/slide5.xml" Id="R0bb52bf919a64cd4" /><Relationship Type="http://schemas.openxmlformats.org/officeDocument/2006/relationships/slide" Target="/ppt/slides/slide6.xml" Id="R03968cf728ad40ef" /><Relationship Type="http://schemas.openxmlformats.org/officeDocument/2006/relationships/slide" Target="/ppt/slides/slide7.xml" Id="Rbd6ff4447ee74225" /><Relationship Type="http://schemas.openxmlformats.org/officeDocument/2006/relationships/slide" Target="/ppt/slides/slide8.xml" Id="R44017d06171b4af6" /><Relationship Type="http://schemas.openxmlformats.org/officeDocument/2006/relationships/slide" Target="/ppt/slides/slide9.xml" Id="R65f4695c1ea84766" /><Relationship Type="http://schemas.openxmlformats.org/officeDocument/2006/relationships/slide" Target="/ppt/slides/slide10.xml" Id="Raa34eb03ca824bbe" /><Relationship Type="http://schemas.openxmlformats.org/officeDocument/2006/relationships/slide" Target="/ppt/slides/slide11.xml" Id="R065332d6c702446c" /><Relationship Type="http://schemas.openxmlformats.org/officeDocument/2006/relationships/slide" Target="/ppt/slides/slide12.xml" Id="Rfb49cb7c6dbe4b17" /><Relationship Type="http://schemas.openxmlformats.org/officeDocument/2006/relationships/slide" Target="/ppt/slides/slide13.xml" Id="Rb603e0f1362441f6" /><Relationship Type="http://schemas.openxmlformats.org/officeDocument/2006/relationships/slide" Target="/ppt/slides/slide14.xml" Id="R6bedf24c59b24f23" /><Relationship Type="http://schemas.openxmlformats.org/officeDocument/2006/relationships/slide" Target="/ppt/slides/slide15.xml" Id="Rbef8df4eb82d4465" /><Relationship Type="http://schemas.openxmlformats.org/officeDocument/2006/relationships/slide" Target="/ppt/slides/slide16.xml" Id="R6504e7096c8f41c2" /><Relationship Type="http://schemas.openxmlformats.org/officeDocument/2006/relationships/slide" Target="/ppt/slides/slide17.xml" Id="R0a99d02f46044ea8" /><Relationship Type="http://schemas.openxmlformats.org/officeDocument/2006/relationships/slide" Target="/ppt/slides/slide18.xml" Id="R004d5b8e874342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8dc436d6aa4f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b141541cf747f6" /><Relationship Type="http://schemas.openxmlformats.org/officeDocument/2006/relationships/notesMaster" Target="/ppt/notesMasters/notesMaster1.xml" Id="R45a057317d2a42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6dc1a5e23547e6" /><Relationship Type="http://schemas.openxmlformats.org/officeDocument/2006/relationships/notesMaster" Target="/ppt/notesMasters/notesMaster1.xml" Id="Rbcadf5e48ccb47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b37d8af358447f" /><Relationship Type="http://schemas.openxmlformats.org/officeDocument/2006/relationships/notesMaster" Target="/ppt/notesMasters/notesMaster1.xml" Id="R5c730359f32548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4de51b63cf4ccf" /><Relationship Type="http://schemas.openxmlformats.org/officeDocument/2006/relationships/notesMaster" Target="/ppt/notesMasters/notesMaster1.xml" Id="Rd79a44c5b4d04c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66d7d792c74a6e" /><Relationship Type="http://schemas.openxmlformats.org/officeDocument/2006/relationships/notesMaster" Target="/ppt/notesMasters/notesMaster1.xml" Id="R76b291739dc545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d6caf8c8f94121" /><Relationship Type="http://schemas.openxmlformats.org/officeDocument/2006/relationships/notesMaster" Target="/ppt/notesMasters/notesMaster1.xml" Id="R5e2f847479e446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60bccde85f47a3" /><Relationship Type="http://schemas.openxmlformats.org/officeDocument/2006/relationships/notesMaster" Target="/ppt/notesMasters/notesMaster1.xml" Id="R19ba8e39bb6544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9d647b87e6417a" /><Relationship Type="http://schemas.openxmlformats.org/officeDocument/2006/relationships/notesMaster" Target="/ppt/notesMasters/notesMaster1.xml" Id="Rf1f4b49c1b884b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a49058d7a374f59" /><Relationship Type="http://schemas.openxmlformats.org/officeDocument/2006/relationships/notesMaster" Target="/ppt/notesMasters/notesMaster1.xml" Id="R2c35f0141d1b46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e52d28e3254a65" /><Relationship Type="http://schemas.openxmlformats.org/officeDocument/2006/relationships/notesMaster" Target="/ppt/notesMasters/notesMaster1.xml" Id="R0e9ef43617f145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7ad091ec8b046dd" /><Relationship Type="http://schemas.openxmlformats.org/officeDocument/2006/relationships/notesMaster" Target="/ppt/notesMasters/notesMaster1.xml" Id="R1f565cb782ef4b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a74604759a49eb" /><Relationship Type="http://schemas.openxmlformats.org/officeDocument/2006/relationships/notesMaster" Target="/ppt/notesMasters/notesMaster1.xml" Id="R70a9f2a7f52849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8e3e53fba764f8e" /><Relationship Type="http://schemas.openxmlformats.org/officeDocument/2006/relationships/notesMaster" Target="/ppt/notesMasters/notesMaster1.xml" Id="R279e6aa488c94a3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ac3624cc6ca4af2" /><Relationship Type="http://schemas.openxmlformats.org/officeDocument/2006/relationships/notesMaster" Target="/ppt/notesMasters/notesMaster1.xml" Id="R84da061db66a409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a406afdca5c49ff" /><Relationship Type="http://schemas.openxmlformats.org/officeDocument/2006/relationships/notesMaster" Target="/ppt/notesMasters/notesMaster1.xml" Id="R764ac84ab5d7405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3321df895f943bc" /><Relationship Type="http://schemas.openxmlformats.org/officeDocument/2006/relationships/notesMaster" Target="/ppt/notesMasters/notesMaster1.xml" Id="Raa5fef274a7d4cc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0e7f6a1f2534507" /><Relationship Type="http://schemas.openxmlformats.org/officeDocument/2006/relationships/notesMaster" Target="/ppt/notesMasters/notesMaster1.xml" Id="Rede5acd655804a8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44cb367554340b3" /><Relationship Type="http://schemas.openxmlformats.org/officeDocument/2006/relationships/notesMaster" Target="/ppt/notesMasters/notesMaster1.xml" Id="Rcf109a165c3a4e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pasted text: C:\Users\amanjohn\.codex\attachments\385e71e9-8c7d-47ac-9073-4797e66188b3\pasted-text.txt</a:t>
            </a:r>
          </a:p>
          <a:p xmlns:a="http://schemas.openxmlformats.org/drawingml/2006/main">
            <a:r>
              <a:t>- User follow-up: adapt for non-technical audience; emphasize training, application development, and on-premise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pasted text: C:\Users\amanjohn\.codex\attachments\385e71e9-8c7d-47ac-9073-4797e66188b3\pasted-text.txt</a:t>
            </a:r>
          </a:p>
          <a:p xmlns:a="http://schemas.openxmlformats.org/drawingml/2006/main">
            <a:r>
              <a:t>- User follow-up: adapt for non-technical audience; emphasize training, application development, and on-premise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pasted text: C:\Users\amanjohn\.codex\attachments\385e71e9-8c7d-47ac-9073-4797e66188b3\pasted-text.txt</a:t>
            </a:r>
          </a:p>
          <a:p xmlns:a="http://schemas.openxmlformats.org/drawingml/2006/main">
            <a:r>
              <a:t>- User follow-up: adapt for non-technical audience; emphasize training, application development, and on-premise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pasted text: C:\Users\amanjohn\.codex\attachments\385e71e9-8c7d-47ac-9073-4797e66188b3\pasted-text.txt</a:t>
            </a:r>
          </a:p>
          <a:p xmlns:a="http://schemas.openxmlformats.org/drawingml/2006/main">
            <a:r>
              <a:t>- User follow-up: adapt for non-technical audience; emphasize training, application development, and on-premise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pasted text: C:\Users\amanjohn\.codex\attachments\385e71e9-8c7d-47ac-9073-4797e66188b3\pasted-text.txt</a:t>
            </a:r>
          </a:p>
          <a:p xmlns:a="http://schemas.openxmlformats.org/drawingml/2006/main">
            <a:r>
              <a:t>- User follow-up: adapt for non-technical audience; emphasize training, application development, and on-premise deployment.</a:t>
            </a:r>
          </a:p>
          <a:p xmlns:a="http://schemas.openxmlformats.org/drawingml/2006/main">
            <a:r>
              <a:t>- Generated visual asset: .codex_build\ai_prokuratura_deck\assets\training-visual.png</a:t>
            </a:r>
          </a:p>
          <a:p xmlns:a="http://schemas.openxmlformats.org/drawingml/2006/main">
            <a:r>
              <a:t>- Generated visual asset: .codex_build\ai_prokuratura_deck\assets\onprem-app-visual.png</a:t>
            </a:r>
          </a:p>
          <a:p xmlns:a="http://schemas.openxmlformats.org/drawingml/2006/main">
            <a:r>
              <a:t>- Generated visual asset: .codex_build\ai_prokuratura_deck\assets\ai-audit-onprem-visual.png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pasted text: C:\Users\amanjohn\.codex\attachments\385e71e9-8c7d-47ac-9073-4797e66188b3\pasted-text.txt</a:t>
            </a:r>
          </a:p>
          <a:p xmlns:a="http://schemas.openxmlformats.org/drawingml/2006/main">
            <a:r>
              <a:t>- User follow-up: adapt for non-technical audience; emphasize training, application development, and on-premise deployment.</a:t>
            </a:r>
          </a:p>
          <a:p xmlns:a="http://schemas.openxmlformats.org/drawingml/2006/main">
            <a:r>
              <a:t>- Generated visual asset: .codex_build\ai_prokuratura_deck\assets\training-visual.png</a:t>
            </a:r>
          </a:p>
          <a:p xmlns:a="http://schemas.openxmlformats.org/drawingml/2006/main">
            <a:r>
              <a:t>- Generated visual asset: .codex_build\ai_prokuratura_deck\assets\onprem-app-visual.png</a:t>
            </a:r>
          </a:p>
          <a:p xmlns:a="http://schemas.openxmlformats.org/drawingml/2006/main">
            <a:r>
              <a:t>- Generated visual asset: .codex_build\ai_prokuratura_deck\assets\ai-audit-onprem-visual.png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pasted text: C:\Users\amanjohn\.codex\attachments\385e71e9-8c7d-47ac-9073-4797e66188b3\pasted-text.txt</a:t>
            </a:r>
          </a:p>
          <a:p xmlns:a="http://schemas.openxmlformats.org/drawingml/2006/main">
            <a:r>
              <a:t>- User follow-up: adapt for non-technical audience; emphasize training, application development, and on-premise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pasted text: C:\Users\amanjohn\.codex\attachments\385e71e9-8c7d-47ac-9073-4797e66188b3\pasted-text.txt</a:t>
            </a:r>
          </a:p>
          <a:p xmlns:a="http://schemas.openxmlformats.org/drawingml/2006/main">
            <a:r>
              <a:t>- User follow-up: adapt for non-technical audience; emphasize training, application development, and on-premise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pasted text: C:\Users\amanjohn\.codex\attachments\385e71e9-8c7d-47ac-9073-4797e66188b3\pasted-text.txt</a:t>
            </a:r>
          </a:p>
          <a:p xmlns:a="http://schemas.openxmlformats.org/drawingml/2006/main">
            <a:r>
              <a:t>- User follow-up: adapt for non-technical audience; emphasize training, application development, and on-premise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pasted text: C:\Users\amanjohn\.codex\attachments\385e71e9-8c7d-47ac-9073-4797e66188b3\pasted-text.txt</a:t>
            </a:r>
          </a:p>
          <a:p xmlns:a="http://schemas.openxmlformats.org/drawingml/2006/main">
            <a:r>
              <a:t>- User follow-up: adapt for non-technical audience; emphasize training, application development, and on-premise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pasted text: C:\Users\amanjohn\.codex\attachments\385e71e9-8c7d-47ac-9073-4797e66188b3\pasted-text.txt</a:t>
            </a:r>
          </a:p>
          <a:p xmlns:a="http://schemas.openxmlformats.org/drawingml/2006/main">
            <a:r>
              <a:t>- User follow-up: adapt for non-technical audience; emphasize training, application development, and on-premise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pasted text: C:\Users\amanjohn\.codex\attachments\385e71e9-8c7d-47ac-9073-4797e66188b3\pasted-text.txt</a:t>
            </a:r>
          </a:p>
          <a:p xmlns:a="http://schemas.openxmlformats.org/drawingml/2006/main">
            <a:r>
              <a:t>- User follow-up: adapt for non-technical audience; emphasize training, application development, and on-premise deployment.</a:t>
            </a:r>
          </a:p>
          <a:p xmlns:a="http://schemas.openxmlformats.org/drawingml/2006/main">
            <a:r>
              <a:t>- Generated visual asset: .codex_build\ai_prokuratura_deck\assets\training-visual.png</a:t>
            </a:r>
          </a:p>
          <a:p xmlns:a="http://schemas.openxmlformats.org/drawingml/2006/main">
            <a:r>
              <a:t>- Generated visual asset: .codex_build\ai_prokuratura_deck\assets\onprem-app-visual.png</a:t>
            </a:r>
          </a:p>
          <a:p xmlns:a="http://schemas.openxmlformats.org/drawingml/2006/main">
            <a:r>
              <a:t>- Generated visual asset: .codex_build\ai_prokuratura_deck\assets\ai-audit-onprem-visual.png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pasted text: C:\Users\amanjohn\.codex\attachments\385e71e9-8c7d-47ac-9073-4797e66188b3\pasted-text.txt</a:t>
            </a:r>
          </a:p>
          <a:p xmlns:a="http://schemas.openxmlformats.org/drawingml/2006/main">
            <a:r>
              <a:t>- User follow-up: adapt for non-technical audience; emphasize training, application development, and on-premise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pasted text: C:\Users\amanjohn\.codex\attachments\385e71e9-8c7d-47ac-9073-4797e66188b3\pasted-text.txt</a:t>
            </a:r>
          </a:p>
          <a:p xmlns:a="http://schemas.openxmlformats.org/drawingml/2006/main">
            <a:r>
              <a:t>- User follow-up: adapt for non-technical audience; emphasize training, application development, and on-premise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pasted text: C:\Users\amanjohn\.codex\attachments\385e71e9-8c7d-47ac-9073-4797e66188b3\pasted-text.txt</a:t>
            </a:r>
          </a:p>
          <a:p xmlns:a="http://schemas.openxmlformats.org/drawingml/2006/main">
            <a:r>
              <a:t>- User follow-up: adapt for non-technical audience; emphasize training, application development, and on-premise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pasted text: C:\Users\amanjohn\.codex\attachments\385e71e9-8c7d-47ac-9073-4797e66188b3\pasted-text.txt</a:t>
            </a:r>
          </a:p>
          <a:p xmlns:a="http://schemas.openxmlformats.org/drawingml/2006/main">
            <a:r>
              <a:t>- User follow-up: adapt for non-technical audience; emphasize training, application development, and on-premise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pasted text: C:\Users\amanjohn\.codex\attachments\385e71e9-8c7d-47ac-9073-4797e66188b3\pasted-text.txt</a:t>
            </a:r>
          </a:p>
          <a:p xmlns:a="http://schemas.openxmlformats.org/drawingml/2006/main">
            <a:r>
              <a:t>- User follow-up: adapt for non-technical audience; emphasize training, application development, and on-premise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pasted text: C:\Users\amanjohn\.codex\attachments\385e71e9-8c7d-47ac-9073-4797e66188b3\pasted-text.txt</a:t>
            </a:r>
          </a:p>
          <a:p xmlns:a="http://schemas.openxmlformats.org/drawingml/2006/main">
            <a:r>
              <a:t>- User follow-up: adapt for non-technical audience; emphasize training, application development, and on-premise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74e75e61b34e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3e967b9e274c8e" /><Relationship Type="http://schemas.openxmlformats.org/officeDocument/2006/relationships/slideLayout" Target="/ppt/slideLayouts/slideLayout1.xml" Id="R90e39209c14943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e39209c14943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61ca59dfe4e3a" /><Relationship Type="http://schemas.openxmlformats.org/officeDocument/2006/relationships/notesSlide" Target="/ppt/notesSlides/notesSlide1.xml" Id="Rc8d0af5fc9ac48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82408934b4d66" /><Relationship Type="http://schemas.openxmlformats.org/officeDocument/2006/relationships/notesSlide" Target="/ppt/notesSlides/notesSlide2.xml" Id="R8c4b8597272346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3274cbdd14f2e" /><Relationship Type="http://schemas.openxmlformats.org/officeDocument/2006/relationships/notesSlide" Target="/ppt/notesSlides/notesSlide3.xml" Id="Rfc43c483cf634f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ba932119e14357" /><Relationship Type="http://schemas.openxmlformats.org/officeDocument/2006/relationships/notesSlide" Target="/ppt/notesSlides/notesSlide4.xml" Id="R10fad381311b45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80a85c9dca4434" /><Relationship Type="http://schemas.openxmlformats.org/officeDocument/2006/relationships/image" Target="/ppt/media/image.png" Id="R77f82b506a974d11" /><Relationship Type="http://schemas.openxmlformats.org/officeDocument/2006/relationships/image" Target="/ppt/media/image2.png" Id="R7f129f86ebd34973" /><Relationship Type="http://schemas.openxmlformats.org/officeDocument/2006/relationships/notesSlide" Target="/ppt/notesSlides/notesSlide5.xml" Id="R84d79f6d00a448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63b8c92324f98" /><Relationship Type="http://schemas.openxmlformats.org/officeDocument/2006/relationships/image" Target="/ppt/media/image3.png" Id="R85cfcc6bac70456c" /><Relationship Type="http://schemas.openxmlformats.org/officeDocument/2006/relationships/image" Target="/ppt/media/image4.png" Id="R451d4413cc374d16" /><Relationship Type="http://schemas.openxmlformats.org/officeDocument/2006/relationships/notesSlide" Target="/ppt/notesSlides/notesSlide6.xml" Id="R4e61c601273d4cb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ee80772ae4468" /><Relationship Type="http://schemas.openxmlformats.org/officeDocument/2006/relationships/notesSlide" Target="/ppt/notesSlides/notesSlide7.xml" Id="Refff94446d554f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4be7e91d04e90" /><Relationship Type="http://schemas.openxmlformats.org/officeDocument/2006/relationships/notesSlide" Target="/ppt/notesSlides/notesSlide8.xml" Id="R280a65a0bc2e4f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63553ffcf04f6e" /><Relationship Type="http://schemas.openxmlformats.org/officeDocument/2006/relationships/notesSlide" Target="/ppt/notesSlides/notesSlide9.xml" Id="R5d3d1398a3814a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33a87d6e046e8" /><Relationship Type="http://schemas.openxmlformats.org/officeDocument/2006/relationships/notesSlide" Target="/ppt/notesSlides/notesSlide10.xml" Id="R31e24e7d79f7472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b3042944ac49a2" /><Relationship Type="http://schemas.openxmlformats.org/officeDocument/2006/relationships/notesSlide" Target="/ppt/notesSlides/notesSlide11.xml" Id="R843a063100c5473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5a3166947448b" /><Relationship Type="http://schemas.openxmlformats.org/officeDocument/2006/relationships/image" Target="/ppt/media/image5.png" Id="Rddc5e628946e41a9" /><Relationship Type="http://schemas.openxmlformats.org/officeDocument/2006/relationships/notesSlide" Target="/ppt/notesSlides/notesSlide12.xml" Id="R1958d71a77cc48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c6c4888c14601" /><Relationship Type="http://schemas.openxmlformats.org/officeDocument/2006/relationships/notesSlide" Target="/ppt/notesSlides/notesSlide13.xml" Id="Ree72aafb03454a7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e1c0755bc4094" /><Relationship Type="http://schemas.openxmlformats.org/officeDocument/2006/relationships/notesSlide" Target="/ppt/notesSlides/notesSlide14.xml" Id="R1a310b8c66594d1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924da7fba49a6" /><Relationship Type="http://schemas.openxmlformats.org/officeDocument/2006/relationships/notesSlide" Target="/ppt/notesSlides/notesSlide15.xml" Id="Re840fa867486449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7cd4ea6f649de" /><Relationship Type="http://schemas.openxmlformats.org/officeDocument/2006/relationships/notesSlide" Target="/ppt/notesSlides/notesSlide16.xml" Id="Re0092628c6f94aa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752aa19ab47ca" /><Relationship Type="http://schemas.openxmlformats.org/officeDocument/2006/relationships/notesSlide" Target="/ppt/notesSlides/notesSlide17.xml" Id="R5c3d4b15c05c444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68747bd234168" /><Relationship Type="http://schemas.openxmlformats.org/officeDocument/2006/relationships/notesSlide" Target="/ppt/notesSlides/notesSlide18.xml" Id="R82dca6b7fa9c43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669BB-3F36-43CF-AE09-9FB91888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QAP Solutions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E48C3C-DCB4-4E60-AB94-218A4EFD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8382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ИИ в прокуратуре: понятный и безопасный инструмент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6B123-AC77-4B4D-9233-80255AD6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Обучение сотрудников и разработка закрытого AI-приложения для рабочих процессов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CE06C-FA56-4398-BCEF-4A069A83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1655B8-BE51-48D6-B3B3-1A9D5644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Атырау,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B1B6D-D94E-49C1-B969-D2ED4826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876300"/>
            <a:ext cx="14859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F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31C69A-70B2-47CC-B95A-72C8904B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562100"/>
            <a:ext cx="1104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59090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78E6A-3326-4860-9506-44685B3C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009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ИИ в этом проекте — это рабочий помощник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0B353-1644-4C10-BC44-F76333CF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86B0A0-E2D8-439E-9B3D-C4659282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Для сотрудников это не «сложная технология», а понятный инструмент рядом с документами.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9D74D-3950-41F5-B5E3-BA369B87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62150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Спросить:</a:t>
            </a: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задать вопрос обычным языком.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Найти:</a:t>
            </a: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быстро получить нужные документы и факты.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Собрать:</a:t>
            </a: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подготовить черновик справки или анализа.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Проверить:</a:t>
            </a: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сверить ответ по источникам и принять решение самому.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B15A37-124C-4D9F-AED4-DBFF385C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57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A9554-3FCE-4A1E-9081-CBE5B841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004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0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Главный принцип: ИИ помогает готовить информацию, но не заменяет профессиональное решение сотрудника.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AED60-1640-40BF-808F-001B0E06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QAP Solutions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857EC-5F9C-4712-9E93-F9EA5F25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899798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7BBF26-F7A2-4888-A382-42ACE3F5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981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254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ИИ нужен там, где много ручной работы с информацией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406A7-2607-4030-AE2E-23AEC067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69E5C-6550-489A-B6C5-27629CA0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191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Сотрудники тратят время на поиск, чтение, сопоставление и подготовку материалов.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60F52-CD6B-438A-8376-BDC54C5D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66900"/>
            <a:ext cx="581025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нормативные и правовые документы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обращения граждан и материалы проверок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служебная переписка и аналитические справки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отчеты, статистика, документы организаций и госорганов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DFF625-4307-42D6-AADC-C8E267AB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57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907CD-FD3C-482C-B637-2D49BCBD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004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ИИ берет на себя часть подготовки информации, а решение остается за сотрудником.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4F2DD-E19D-4F5B-8483-C2288AAB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QAP Solutions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C2BA4-83C8-48F8-BC3B-4096110B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984638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B1707-3263-48C5-8558-63801528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Проект состоит из двух понятных направлений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6F2DB-4AFC-4B92-B184-A733A7D4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71D34-A90F-4E03-8AF4-21D97ACE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01 — Обучение сотрудников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6BE3A-0FC8-4C4C-82E7-57BF4193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Показываем, как использовать ИИ в реальных задачах: поиск, анализ документов, подготовка справок, проверка результата.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D8035-1026-4104-93C1-456BC62E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81200"/>
            <a:ext cx="0" cy="3028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35725-0638-437F-B6C5-AF952E73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 — Разработка приложения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B366E-C285-42CF-9EA9-3FFF194B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Создаем закрытый AI-помощник под процессы прокуратуры: документы, внутренняя база знаний, аналитика и отчеты.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81C7A-0740-47BB-9D32-342D157B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5305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8E28C-03F6-4772-AC7D-C802F09D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05450"/>
            <a:ext cx="1007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Сначала люди понимают инструмент, затем появляется приложение, встроенное в их работу.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AA9743-0F8B-4B51-A3D0-97460BEB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QAP Solutions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B3C20-4C13-4A16-AEA0-756F00E9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629162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98100-123F-4EF3-A91D-4F45AE72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981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254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Обучение должно быть практическим, а не теоретическим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7A570-8411-4662-969D-50F6F431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F6BE3-4CA4-4145-88DE-5C6E47B5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191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Участникам не нужно глубоко разбираться в технологиях, чтобы начать получать пользу.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328ED-DD36-46D2-86B9-8E137FD33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66900"/>
            <a:ext cx="581025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что ИИ может и чего не может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как задавать понятные вопросы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как анализировать документы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как готовить черновики аналитики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как проверять ответы ИИ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как работать с данными безопасно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910E0-7731-4BE9-BC67-B795EE76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57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C470AB-BD42-430F-B40F-970BBD5D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004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Формат обучения: берем рабочую задачу сотрудника и решаем ее с помощью 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814B6-3F4C-4ED8-AAA0-EAA3461D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QAP Solutions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1611B-02FB-40D3-8BA8-670A147E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65D60-8B7C-4B09-9720-8A44CB7D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05918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82b506a974d11"/>
          <a:stretch xmlns:a="http://schemas.openxmlformats.org/drawingml/2006/main"/>
        </p:blipFill>
        <p:spPr>
          <a:xfrm xmlns:a="http://schemas.openxmlformats.org/drawingml/2006/main">
            <a:off x="533400" y="1849422"/>
            <a:ext cx="5410200" cy="304485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CFD8C2-5625-4D17-AC73-20911AF9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478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Обучение показывает ИИ как рабочий инструмент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889B2-61FC-4662-A6AC-90F0F9D2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4457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spcAft>
                <a:spcPts val="7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задаем вопросы обычным языком</a:t>
            </a:r>
          </a:p>
          <a:p xmlns:a="http://schemas.openxmlformats.org/drawingml/2006/main">
            <a:pPr marL="20" indent="-12" algn="l">
              <a:spcAft>
                <a:spcPts val="7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ищем нужные документы и факты</a:t>
            </a:r>
          </a:p>
          <a:p xmlns:a="http://schemas.openxmlformats.org/drawingml/2006/main">
            <a:pPr marL="20" indent="-12" algn="l">
              <a:spcAft>
                <a:spcPts val="7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готовим черновики справок</a:t>
            </a:r>
          </a:p>
          <a:p xmlns:a="http://schemas.openxmlformats.org/drawingml/2006/main">
            <a:pPr marL="20" indent="-12" algn="l">
              <a:spcAft>
                <a:spcPts val="7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проверяем ответы по источникам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918A2D-1606-4B07-9153-A2981EA9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57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DB745-6E74-44C3-B0B8-35501016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004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Формат обучения: берем реальную рабочую задачу и решаем ее вместе с ИИ.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92BE1-A045-4F6A-9697-77C4C80D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05918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29f86ebd34973"/>
          <a:stretch xmlns:a="http://schemas.openxmlformats.org/drawingml/2006/main"/>
        </p:blipFill>
        <p:spPr>
          <a:xfrm xmlns:a="http://schemas.openxmlformats.org/drawingml/2006/main">
            <a:off x="533400" y="1849422"/>
            <a:ext cx="5410200" cy="304485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F61B3B-AEE4-4AFF-89CD-C6AF6C54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47850"/>
            <a:ext cx="476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Обучение показывает ИИ как рабочий инструмент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A55437-31AF-4E81-BF9E-5130352C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4457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spcAft>
                <a:spcPts val="7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задаем вопросы обычным языком</a:t>
            </a:r>
          </a:p>
          <a:p xmlns:a="http://schemas.openxmlformats.org/drawingml/2006/main">
            <a:pPr marL="20" indent="-12" algn="l">
              <a:spcAft>
                <a:spcPts val="7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ищем нужные документы и факты</a:t>
            </a:r>
          </a:p>
          <a:p xmlns:a="http://schemas.openxmlformats.org/drawingml/2006/main">
            <a:pPr marL="20" indent="-12" algn="l">
              <a:spcAft>
                <a:spcPts val="7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готовим черновики справок</a:t>
            </a:r>
          </a:p>
          <a:p xmlns:a="http://schemas.openxmlformats.org/drawingml/2006/main">
            <a:pPr marL="20" indent="-12" algn="l">
              <a:spcAft>
                <a:spcPts val="7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проверяем ответы по источникам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AFE0AA-5551-4CD3-B16C-E5144CB4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57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121B1B-744E-4B88-A7DB-DC1BB97B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004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Формат обучения: берем реальную рабочую задачу и решаем ее вместе с ИИ.</a:t>
            </a:r>
          </a:p>
        </p:txBody>
      </p:sp>
    </p:spTree>
    <p:extLst>
      <p:ext uri="{BB962C8B-B14F-4D97-AF65-F5344CB8AC3E}">
        <p14:creationId xmlns:p14="http://schemas.microsoft.com/office/powerpoint/2010/main" val="9838757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A944C-CB03-4690-A271-9032787A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27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Приложение становится единым окном для рабочих документов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A072C-C49C-40CA-A334-63C3DDBE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A7926-295E-4B63-B850-3390DBD7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Как это выглядит для сотрудника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EBA5BE-B58F-45C4-9408-A79EEC9B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Сотрудник открывает внутренний AI-помощник, задает вопрос обычным языком и получает структурированный ответ.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77AAED-7562-4216-AA34-6036E07E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81200"/>
            <a:ext cx="0" cy="3028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ABEF4-DC26-41A1-9570-D3797082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Что умеет система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D069E-CE87-476E-B2A6-715A6DBB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искать по документам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кратко пересказывать материалы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сравнивать документы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находить факты и связи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готовить черновики справок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показывать источники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28EF8-89D4-4D32-8B56-9F544D09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5305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92D82C-8580-41BE-A35F-969E6C24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05450"/>
            <a:ext cx="1007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Важно: AI-помощник работает с внутренними материалами, а не вместо сотрудника.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C8ABB-4DB2-4EDE-8CA2-A7227BD1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QAP Solutions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40E5BE-C66A-4A3B-A939-FA073B9A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CA3044-738C-4E3F-92AF-311DA9D8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05918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9D3E98-367A-461E-9807-BE502F9A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4686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Приложение работает внутри инфраструктуры прокуратуры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83AFC3-D93D-4AA6-B90D-872288D6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46863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Сотрудник открывает внутренний AI-помощник, задает вопрос и получает ответ по рабочим материалам. Документы остаются внутри закрытого контура.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fcc6bac70456c"/>
          <a:stretch xmlns:a="http://schemas.openxmlformats.org/drawingml/2006/main"/>
        </p:blipFill>
        <p:spPr>
          <a:xfrm xmlns:a="http://schemas.openxmlformats.org/drawingml/2006/main">
            <a:off x="5563035" y="1847850"/>
            <a:ext cx="5618879" cy="31623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CC70E7-9537-42A4-929B-CF6CCEAA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57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C43B4D-3BEB-4ED8-8117-D1C867CD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004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Главная мысль: ничего из внутренних материалов не должно уходить в интернет.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3679A1-3484-4D06-8AC6-9DAE922F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105918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4BB014-1809-4FB0-92A1-59090F9F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4686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Приложение работает внутри инфраструктуры прокуратуры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331452-83BA-427B-9EEA-8399F247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90850"/>
            <a:ext cx="46863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Сотрудник открывает внутренний AI-помощник, задает вопрос и получает ответ по рабочим материалам. Документы остаются внутри закрытого контура.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1d4413cc374d16"/>
          <a:stretch xmlns:a="http://schemas.openxmlformats.org/drawingml/2006/main"/>
        </p:blipFill>
        <p:spPr>
          <a:xfrm xmlns:a="http://schemas.openxmlformats.org/drawingml/2006/main">
            <a:off x="5563035" y="1847850"/>
            <a:ext cx="5618879" cy="31623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380298-D994-4814-A18A-DE5D5701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57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E38E0C-26D3-404D-8415-35AD0789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004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Главная мысль: ничего из внутренних материалов не должно уходить в интернет.</a:t>
            </a:r>
          </a:p>
        </p:txBody>
      </p:sp>
    </p:spTree>
    <p:extLst>
      <p:ext uri="{BB962C8B-B14F-4D97-AF65-F5344CB8AC3E}">
        <p14:creationId xmlns:p14="http://schemas.microsoft.com/office/powerpoint/2010/main" val="3186015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417B7C-DF50-4544-B304-B682E721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Пример: сотрудник ищет похожие случаи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79D90-B58C-4C7B-A1EE-71C2A225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Вопрос можно задать обычным языком: «Какие аналогичные случаи уже рассматривались?»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28B45-069A-41D3-AE45-817C471C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5363B-E8A3-429B-A89E-27A6E7FC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CF1F9-4C95-42B3-8A3C-CE8DC025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42FE9-02E5-4629-A20B-CEE87E6D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2190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Находит документы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CDA10-E486-4530-93A5-7589B583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765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46F185-96E7-438C-A349-C57754668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622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03A46-5506-44D4-8C0A-6DC5431D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43250"/>
            <a:ext cx="2190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Сравнивает содержание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80DF4-E0BD-4522-8B71-3BDBD0E6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12F50-8B7F-4786-9DAB-591C5843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622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3989E6-AED4-41DF-B863-D79C2AEE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2190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Собирает ответ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68305-3DD8-4ED8-89C1-4DFE518C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765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F5C02-5A3F-4305-9BDC-63CE827C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622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E383AB-A640-4081-8CE9-9C609450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43250"/>
            <a:ext cx="2190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Показывает источники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C59F31-DA04-45CA-8144-B7FABEBF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Ответ можно проверить по первоисточникам, поэтому результат остается контролируемым.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A8F9EB-E78B-4550-BD8C-5723AC9B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QAP Solutions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70CA5F-1FD8-4F48-9DA1-2857643E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253390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5B0E9-555A-4722-8E26-B799CCB3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18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AI-анализ документов закрывает три простые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77D85-B2EB-44D3-96DA-1ABB7191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07AF4-0EFF-4801-9619-3929C62D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Найти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03282-8CE6-4744-9738-5F7504C7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32766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нужные документы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конкретные факты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упоминания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связанные материалы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77F88-36A5-4BC5-8C7B-B65492DC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19300"/>
            <a:ext cx="0" cy="2990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C8065-DBCA-435E-A142-73E62073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1930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Сравнить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C8898-DE5C-4DC8-99E1-9022330B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05100"/>
            <a:ext cx="32766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документы между собой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версии документов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показатели за разные периоды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241B9-AC17-4D3E-AF3D-5789DE4A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019300"/>
            <a:ext cx="0" cy="2990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6496A-A7CB-4EEE-AB3F-B0841B66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1930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Объяснить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785569-4234-4EE6-BFEF-0EA71B35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05100"/>
            <a:ext cx="32766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повторяющиеся ситуации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структуру информации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потенциальные несоответствия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ключевые выводы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2318B0-2A10-481F-A9ED-B2A06400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Система ускоряет подготовку, но выводы проверяет человек.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A3DBA8-705B-4A67-BB8D-1D36FA65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QAP Solutions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96B007-C135-4AD7-8B96-0B353A7D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7574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D2703-CE7D-407E-972E-457731AF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134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Разработка — только в закрытом контуре on-premise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4D44C-C90F-4D4C-978D-53E19AFD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C14DD-7AAF-4003-A61A-4DD37678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Все, что будет разработано, размещается внутри согласованной инфраструктуры прокуратуры.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46ED2-1CED-4E31-B36B-E74A7B85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47625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8B5D24-94EA-4CA7-AE5C-39EB96E2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66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Данные не уходят в интернет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0BBE0-19CA-4493-A7D8-F0E2024B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52750"/>
            <a:ext cx="4000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889"/>
          </a:bodyPr>
          <a:lstStyle xmlns:a="http://schemas.openxmlformats.org/drawingml/2006/main"/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рабочие документы не передаются в публичные AI-сервисы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система работает внутри закрытого контура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доступ выдается только авторизованным пользователям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действия пользователей можно журналировать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B7D9A-246E-4847-8668-0100CFAC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57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7DE96-886E-4239-984A-D24CB197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004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8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Цель безопасности: ничего из внутренних материалов не должно «проскочить» в интернет.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6F7FE-1C57-451C-808E-CAA83C1F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QAP Solutions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71FE7-7513-49BA-80B1-540BB5D3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036256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845A6C-9593-4732-9308-71CBC38D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101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Безопасность закладывается на уровне архитектуры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C4DF1-3B6B-4551-9F3C-A919384A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80996-DD5C-400E-A2CB-D4C689AC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Что исключаем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0CDD6-5339-4DB4-A6E0-B1310C43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передачу документов в публичные AI-сервисы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хранение рабочих данных вне согласованного контура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доступ без авторизации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использование результата без проверки человеком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63A44-A386-4AD4-B8FA-9FE27331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81200"/>
            <a:ext cx="0" cy="3028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69FFE-251D-4140-926B-04CB3E97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Что предусматриваем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79A7F-869E-493C-8F35-D0E50356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on-premise размещение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разграничение прав доступа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журналирование действий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контроль доступа к документам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проверку источников и результатов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28295-A565-46C0-81B4-8045A913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5305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5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89354-0AF7-4A76-9D16-1017DF4F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05450"/>
            <a:ext cx="1007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Безопасность — не отдельная опция, а обязательное условие внедрения.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65EA9-B461-438D-B1AE-933AE3CA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QAP Solutions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1B8D3C-79EE-47DA-9BD7-F4F6699F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786919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A6C9F-8B62-4AC1-A77B-19CBD058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9810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254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AI-аналитика помогает руководителям быстрее видеть картину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6506DF-A564-475C-B87F-07E951A4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0A3A2-0FE6-4F20-966D-F9E73EE2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191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ИИ можно использовать не только для документов, но и для статистики, динамики и повторяющихся показателей.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78437B-81E4-4FBF-A402-1177D358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66900"/>
            <a:ext cx="581025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анализ статистики и динамики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поиск аномальных показателей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выявление повторяющихся нарушений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сравнение районов и подразделений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подготовка аналитических отчетов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426F9-8924-4FE6-9144-88970185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572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6A019-D5F2-4A6B-AB17-DE10ED9A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004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Данные → аналитика → выявление проблемы → управленческое решение.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E1E6E-E952-468B-B5CB-92F9997A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QAP Solutions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6FCF6-919E-49C6-A06A-751FCEB3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889872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45EBC-0EB9-4776-B3D5-F3B90ADF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Как выбирается первый пилот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75156-42C7-4625-BD80-6282DB20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Смотрим на реальные документы и процессы, находим самые трудоемкие места и выбираем 2–3 сценария для проверки.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c5e628946e41a9"/>
          <a:stretch xmlns:a="http://schemas.openxmlformats.org/drawingml/2006/main"/>
        </p:blipFill>
        <p:spPr>
          <a:xfrm xmlns:a="http://schemas.openxmlformats.org/drawingml/2006/main">
            <a:off x="2948074" y="1885950"/>
            <a:ext cx="6295853" cy="3543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2993B-1C8D-4BD5-B31F-CF4EEE4D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66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Итог аудита — не большой проект сразу, а понятный пилот с измеримым эффектом и закрытым контуром данных.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4CDDD-3EAD-4B8B-BAF9-FB6EBD8B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QAP Solutions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38667-AB8D-45E6-AB48-1A058C73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489634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F7031A-AE83-477B-8FBE-C8B07948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Пилот проверяет пользу на 2–3 рабочих сценариях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12CA2-1715-4C21-9603-F274E84B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1D876-3A1A-4C2F-BB68-13881A45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Сценарий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E0988-4735-4BD2-BF0F-6D10C88F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32766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AI-анализ большого массива документов.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B3B7CC-09F9-4BD3-8B82-454C7072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19300"/>
            <a:ext cx="0" cy="2990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FFAE7-2554-435C-BC34-CDA6A56D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1930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Сценарий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38320C-2F33-461B-97FA-293F231B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05100"/>
            <a:ext cx="32766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AI-поиск по внутренней базе знаний.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F9299-6E7B-48B9-A9D2-B379A85D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019300"/>
            <a:ext cx="0" cy="2990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DBDAF6-0314-4A94-9815-6D41F52A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1930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Сценарий 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27B21-E7BC-472A-A7A2-B93AE406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05100"/>
            <a:ext cx="32766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AI-подготовка аналитической справки.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8611E9-381A-446D-8397-245B860A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Для каждого сценария фиксируем KPI: время до/после, точность, объем документов, экономия рабочего времени.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23DE1-D23B-4D19-981C-520461DC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QAP Solutions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E35752-3770-4832-ABB4-DA534E4E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059555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13C53F-87FE-4197-A9E8-5F7C2B37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Путь внедрения остается управляемым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D1DC2-FB6F-4A32-9D32-384C034F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92B6D3-38D0-44D4-9416-BC6EA790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CA083-4D83-4FBD-8D29-CB5A6D2B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BFADF-202A-4AC7-B2DC-7EDBE13B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809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Обучить сотрудников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C0AFE-6D2B-4A06-9E24-6B1D1C5F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4765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3962CF-3A84-45DA-BABD-1EB7A655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622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B5B47-1650-492D-B3B3-F62DA193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43250"/>
            <a:ext cx="1809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Провести аудит процессов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62912-B816-495E-82C6-5F592FF4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765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99870-2B07-4EAC-9E93-7E163DBB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622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ED447-AE0C-4545-8A18-EA2F16A5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1809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Выбрать пилот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D209B-B64A-428F-A68D-0EF00A7C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765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E61DF9-F1E8-493A-A290-EE6BD6F1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622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126AA-3393-4472-82D7-FD741DAF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43250"/>
            <a:ext cx="1809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Разработать on-premise приложение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174419-A00B-4A9D-8765-D56B0731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4765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C8917F-BFCB-4A2B-86EF-D3681DFA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6222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6005B4-AE0F-41E7-BB23-5EF1B849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43250"/>
            <a:ext cx="1809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Измерить эффект и масштабировать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25F260-169A-49B0-81CB-4D7513F8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Масштабирование начинается только после понятного и измеренного результата.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5BBF16-B604-4902-BFE5-ED2873EE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QAP Solutions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2C53D0-CF96-495F-8099-83C8494A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697797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634158-3CFA-46A6-80CD-CA8070B0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Что получает прокуратура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F2E69-D149-494B-B864-688D358B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5A3EF-C0AE-46BD-A626-22E1F41C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Сотрудники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BAB0F-B3A4-4688-BB0F-BFCD7273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32766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меньше рутинной работы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быстрый поиск информации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удобная работа с документами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рост AI-грамотности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DFB86-03D6-479D-B62F-725ECA01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19300"/>
            <a:ext cx="0" cy="2990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96625-712D-427A-94B5-06E198E5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1930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Руководители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34C35-11A2-4375-8E85-86C992D7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05100"/>
            <a:ext cx="32766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оперативная аналитика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прозрачность процессов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быстрое получение справок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контроль показателей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E9CDB-AD91-415A-AA55-F34F68AC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019300"/>
            <a:ext cx="0" cy="2990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52FB4-B861-4CE8-AD77-173B9606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1930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Организация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786623-EC12-496A-8852-EF2693FB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05100"/>
            <a:ext cx="32766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закрытый контур данных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единый подход к AI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рост производительности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безопасное масштабирование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7B2987-2A04-4A6E-9F5C-F75560B5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Эффект должен быть понятен людям, заметен в процессах и безопасен для данных.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AD090A-8FC9-4EF3-AD8D-373F9F27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QAP Solutions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F9FDFF-7063-4460-8F7E-EEE0207A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699792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5E30F-790A-4A49-9F41-4C2DCF8B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Почему QAP Solutions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F1D5E-7BD4-4616-AA10-C0F413F8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121DCD-1848-4BAC-82F2-3B826DA7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Мы соединяем две стороны проекта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9D1F0-8B12-4FBB-9FCF-32AE2327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Обучение:</a:t>
            </a: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помогаем людям понять инструмент и применять его без страха.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Разработка:</a:t>
            </a: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создаем закрытое приложение под конкретные процессы.</a:t>
            </a:r>
          </a:p>
          <a:p xmlns:a="http://schemas.openxmlformats.org/drawingml/2006/main">
            <a:pPr marL="20" indent="-12" algn="l">
              <a:spcAft>
                <a:spcPts val="8"/>
              </a:spcAft>
              <a:buChar char="•"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Внедрение:</a:t>
            </a: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двигаемся через аудит, пилот и измерение эффекта.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DB0A1-144A-4D10-8C43-AEFBEABA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81200"/>
            <a:ext cx="0" cy="3028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E9AAF-8A99-484C-8676-67F45092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812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Наш подход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48C4A-07D8-4412-9442-A6761945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Не внедрять ИИ ради ИИ. Сначала найти реальную задачу, затем проверить решение на пилоте и только после этого расширять систему.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07321-F863-4016-B87D-43B39ACA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5305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3B794-FFF6-4588-97AB-D4C664CD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05450"/>
            <a:ext cx="1007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Главное — практический эффект, безопасность и понятность для сотрудников.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D7D4D-4CEF-4433-AE50-A6897764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QAP Solutions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EA56DA-FBC0-46E3-ADA0-D635670B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608655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BF4FBF-A3F3-4FAB-8C3C-47DC5773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Следующий шаг — совместная AI-сессия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58A07-514B-45BD-BE99-8A781EF5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46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На встрече можно быстро выбрать первые процессы для обучения, пилота и разработки приложения.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2E74C-8EEA-44B4-ADE3-6F304CD5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AADAC-32E9-412C-8E8E-8556865D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669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Определить 10–15 наиболее трудоемких процессов.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432CB2-9C09-45C4-BD1F-5D525F83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241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1A152-BB13-4648-B15E-20902487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A3C28-26A2-4888-B61C-46D30A6F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765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Выбрать процессы с максимальным потенциалом автоматизации.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DD216B-8CB8-4831-8B31-9D73FF3D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B0D76-F709-449A-B95B-C3525C49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57BDF-CCBA-436F-9A1D-46980CBC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861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Определить 2–3 пилотных сценария.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515B5-ED28-4F40-A444-D41C7171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433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CA6D2-31EA-46AF-997C-EA3D175E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5B89F2-1A24-4C51-B72E-4DBC5B4E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Согласовать on-premise контур и требования безопасности.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25162A-81C4-4FCA-850C-309A4A72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529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DEC910-977C-429B-B64C-1E371967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053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71BC98-8808-47D8-8FFD-9B9B42E5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053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Запустить пилот.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502AB1-8F51-4CB4-9DA6-F6462860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625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BBB724-FD91-4814-B1D1-C6FE9A67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Цель — показать на реальных задачах конкретный эффект ИИ для прокуратуры Атырауской области.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C14F29-52B0-4862-AFD5-FA036B2A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QAP Solutions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31A272-B0C5-4A9F-98A2-C5CB969E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2636835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92BC4-B360-4FE2-B926-E8C3B120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Финальный тезис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1FEAB-57FD-4529-8BE5-CCAB5BF0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8382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ИИ — это безопасный инструмент в руках сотрудника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D133F-235D-47E0-85D0-DC1EDEEF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Обучаем людей, разрабатываем закрытое приложение и не выпускаем рабочие данные в интернет.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699FB-2C65-44C2-B89B-BD33D56F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333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A137A-FD1C-440D-8F8E-0985F5BF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579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45B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45B64"/>
                </a:solidFill>
                <a:latin typeface="Arial"/>
                <a:ea typeface="Arial"/>
                <a:cs typeface="Arial"/>
              </a:rPr>
              <a:t>QAP Solutions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D3FC8-A251-49B4-9906-69DB1F12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876300"/>
            <a:ext cx="14859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F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9386B-989F-4598-BEEC-250687C7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562100"/>
            <a:ext cx="11049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776332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2026-08-14T13:11:45.7920000Z</dcterms:created>
  <dcterms:modified xsi:type="dcterms:W3CDTF">2026-08-14T13:11:45.7920000Z</dcterms:modified>
</coreProperties>
</file>